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00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1800" b="1" i="0">
                <a:solidFill>
                  <a:srgbClr val="ECE4F9"/>
                </a:solidFill>
                <a:latin typeface="Calibri"/>
              </a:defRPr>
            </a:pPr>
            <a:r>
              <a:t>UNIDAD 3  ·  SEMANA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Cobertura de Codigo y Refactoring</a:t>
            </a:r>
          </a:p>
          <a:p>
            <a:pPr algn="l">
              <a:spcAft>
                <a:spcPts val="1400"/>
              </a:spcAft>
              <a:defRPr sz="3000" b="0" i="1">
                <a:solidFill>
                  <a:srgbClr val="ECE4F9"/>
                </a:solidFill>
                <a:latin typeface="Calibri"/>
              </a:defRPr>
            </a:pPr>
            <a:r>
              <a:t>Code Coverage + Clean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0"/>
              </a:spcAft>
              <a:defRPr sz="2800" b="0" i="0">
                <a:solidFill>
                  <a:srgbClr val="FFFFFF"/>
                </a:solidFill>
                <a:latin typeface="Calibri"/>
              </a:defRPr>
            </a:pPr>
            <a:r>
              <a:t>Medir  ·  Mejorar  ·  Mantener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0" i="0">
                <a:solidFill>
                  <a:srgbClr val="ECE4F9"/>
                </a:solidFill>
                <a:latin typeface="Calibri"/>
              </a:defRPr>
            </a:pPr>
            <a:r>
              <a:t>Construccion de Software  |  Ing. Henderson Nozart Gibaja Reyes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B09AD0"/>
                </a:solidFill>
                <a:latin typeface="Calibri"/>
              </a:defRPr>
            </a:pPr>
            <a:r>
              <a:t>Universidad Continental  ·  Ingenieria de Sistemas  ·  Ciclo VII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A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02   Logro de la sesion · 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64240" cy="1280160"/>
          </a:xfrm>
          <a:prstGeom prst="roundRect">
            <a:avLst/>
          </a:prstGeom>
          <a:solidFill>
            <a:srgbClr val="F1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l">
              <a:spcAft>
                <a:spcPts val="600"/>
              </a:spcAft>
              <a:defRPr sz="1400" b="1" i="0">
                <a:solidFill>
                  <a:srgbClr val="6A00D4"/>
                </a:solidFill>
                <a:latin typeface="Calibri"/>
              </a:defRPr>
            </a:pPr>
            <a:r>
              <a:t>LOGRO DE LA SESION</a:t>
            </a:r>
          </a:p>
          <a:p>
            <a:pPr algn="l">
              <a:spcAft>
                <a:spcPts val="400"/>
              </a:spcAft>
              <a:defRPr sz="1600" b="0" i="0">
                <a:solidFill>
                  <a:srgbClr val="222222"/>
                </a:solidFill>
                <a:latin typeface="Calibri"/>
              </a:defRPr>
            </a:pPr>
            <a:r>
              <a:t>El estudiante mide la cobertura de codigo de sus pruebas unitarias usando coverage.py, identifica zonas no testeadas y aplica tecnicas de refactoring para mejorar la calidad de su codigo sin alterar su comportamiento.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5943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1500" b="1" i="0">
                <a:solidFill>
                  <a:srgbClr val="6A00D4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     Que es cobertura de codigo y por que importa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     coverage.py: instalacion y uso basico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     Interpretar reportes de cobertura (HTML y terminal)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     Refactoring: definicion y reglas de oro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     Tecnicas de refactoring esenciales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     Practica: mejorar cobertura + refactorizar codigo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3246120"/>
            <a:ext cx="475488" cy="475488"/>
          </a:xfrm>
          <a:prstGeom prst="ellipse">
            <a:avLst/>
          </a:prstGeom>
          <a:solidFill>
            <a:srgbClr val="6A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794759"/>
            <a:ext cx="475488" cy="475488"/>
          </a:xfrm>
          <a:prstGeom prst="ellipse">
            <a:avLst/>
          </a:prstGeom>
          <a:solidFill>
            <a:srgbClr val="6A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4343400"/>
            <a:ext cx="475488" cy="475488"/>
          </a:xfrm>
          <a:prstGeom prst="ellipse">
            <a:avLst/>
          </a:prstGeom>
          <a:solidFill>
            <a:srgbClr val="6A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892040"/>
            <a:ext cx="475488" cy="475488"/>
          </a:xfrm>
          <a:prstGeom prst="ellipse">
            <a:avLst/>
          </a:prstGeom>
          <a:solidFill>
            <a:srgbClr val="6A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5440679"/>
            <a:ext cx="475488" cy="475488"/>
          </a:xfrm>
          <a:prstGeom prst="ellipse">
            <a:avLst/>
          </a:prstGeom>
          <a:solidFill>
            <a:srgbClr val="6A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5989320"/>
            <a:ext cx="475488" cy="475488"/>
          </a:xfrm>
          <a:prstGeom prst="ellipse">
            <a:avLst/>
          </a:prstGeom>
          <a:solidFill>
            <a:srgbClr val="6A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A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03   Que es Cobertura de Codigo?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943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 i="0">
                <a:solidFill>
                  <a:srgbClr val="6A00D4"/>
                </a:solidFill>
                <a:latin typeface="Calibri"/>
              </a:defRPr>
            </a:pPr>
            <a:r>
              <a:t>Definicion</a:t>
            </a:r>
          </a:p>
          <a:p>
            <a:pPr algn="l">
              <a:spcAft>
                <a:spcPts val="600"/>
              </a:spcAft>
              <a:defRPr sz="1700" b="0" i="0">
                <a:solidFill>
                  <a:srgbClr val="222222"/>
                </a:solidFill>
                <a:latin typeface="Calibri"/>
              </a:defRPr>
            </a:pPr>
            <a:r>
              <a:t>La cobertura de codigo mide que porcentaje de tu codigo fuente es ejecutado por tus pruebas unitarias.</a:t>
            </a:r>
          </a:p>
          <a:p>
            <a:pPr algn="l">
              <a:spcAft>
                <a:spcPts val="800"/>
              </a:spcAft>
              <a:defRPr sz="1500" b="0" i="1">
                <a:solidFill>
                  <a:srgbClr val="666666"/>
                </a:solidFill>
                <a:latin typeface="Calibri"/>
              </a:defRPr>
            </a:pPr>
            <a:r>
              <a:t>No mide CALIDAD de tests, sino CANTIDAD de codigo ejecutado.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17520"/>
            <a:ext cx="3474720" cy="1645920"/>
          </a:xfrm>
          <a:prstGeom prst="roundRect">
            <a:avLst/>
          </a:prstGeom>
          <a:solidFill>
            <a:srgbClr val="F6F3FC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>
              <a:spcAft>
                <a:spcPts val="400"/>
              </a:spcAft>
              <a:defRPr sz="1500" b="1" i="0">
                <a:solidFill>
                  <a:srgbClr val="6A00D4"/>
                </a:solidFill>
                <a:latin typeface="Calibri"/>
              </a:defRPr>
            </a:pPr>
            <a:r>
              <a:t>Statement Coverage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Lineas ejecutadas / Total de lineas.</a:t>
            </a:r>
            <a:br/>
            <a:r>
              <a:t>La mas comun. Cada linea se ejecuto al menos una vez?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3017520"/>
            <a:ext cx="3474720" cy="1645920"/>
          </a:xfrm>
          <a:prstGeom prst="roundRect">
            <a:avLst/>
          </a:prstGeom>
          <a:solidFill>
            <a:srgbClr val="F6F3FC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>
              <a:spcAft>
                <a:spcPts val="400"/>
              </a:spcAft>
              <a:defRPr sz="1500" b="1" i="0">
                <a:solidFill>
                  <a:srgbClr val="6A00D4"/>
                </a:solidFill>
                <a:latin typeface="Calibri"/>
              </a:defRPr>
            </a:pPr>
            <a:r>
              <a:t>Branch Coverage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Ramas tomadas / Total de ramas.</a:t>
            </a:r>
            <a:br/>
            <a:r>
              <a:t>Cada if/else/elif fue evaluado en True Y False?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3017520"/>
            <a:ext cx="3749039" cy="1645920"/>
          </a:xfrm>
          <a:prstGeom prst="roundRect">
            <a:avLst/>
          </a:prstGeom>
          <a:solidFill>
            <a:srgbClr val="F6F3FC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>
              <a:spcAft>
                <a:spcPts val="400"/>
              </a:spcAft>
              <a:defRPr sz="1500" b="1" i="0">
                <a:solidFill>
                  <a:srgbClr val="6A00D4"/>
                </a:solidFill>
                <a:latin typeface="Calibri"/>
              </a:defRPr>
            </a:pPr>
            <a:r>
              <a:t>Function Coverage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Funciones llamadas / Total de funciones.</a:t>
            </a:r>
            <a:br/>
            <a:r>
              <a:t>Cada funcion fue invocada al menos una vez?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29200"/>
            <a:ext cx="11064240" cy="12801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l">
              <a:spcAft>
                <a:spcPts val="400"/>
              </a:spcAft>
              <a:defRPr sz="1400" b="1" i="0">
                <a:solidFill>
                  <a:srgbClr val="E65100"/>
                </a:solidFill>
                <a:latin typeface="Calibri"/>
              </a:defRPr>
            </a:pPr>
            <a:r>
              <a:t>IMPORTANTE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22222"/>
                </a:solidFill>
                <a:latin typeface="Calibri"/>
              </a:defRPr>
            </a:pPr>
            <a:r>
              <a:t>100% de cobertura NO garantiza 0 bugs. Un test puede ejecutar una linea sin verificar su resultado. La cobertura te dice donde NO estas testeando, no que tus tests sean buenos.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A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04   Por que medir cobertura?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029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2000" b="1" i="0">
                <a:solidFill>
                  <a:srgbClr val="6A00D4"/>
                </a:solidFill>
                <a:latin typeface="Calibri"/>
              </a:defRPr>
            </a:pPr>
            <a:r>
              <a:t>Beneficios concretos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Detectar codigo muerto (nunca se ejecuta)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Encontrar ramas sin testear (if sin test para else)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Guiar donde escribir el proximo test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Metricas objetivas para CI/CD (ej: minimo 70%)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Confianza al refactorizar: si hay tests, se puede cambiar</a:t>
            </a:r>
          </a:p>
          <a:p>
            <a:pPr>
              <a:spcAft>
                <a:spcPts val="10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Requisito en proyectos profesionales y open source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5212080" cy="2103120"/>
          </a:xfrm>
          <a:prstGeom prst="roundRect">
            <a:avLst/>
          </a:prstGeom>
          <a:solidFill>
            <a:srgbClr val="F6F3FC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>
              <a:spcAft>
                <a:spcPts val="400"/>
              </a:spcAft>
              <a:defRPr sz="1500" b="1" i="0">
                <a:solidFill>
                  <a:srgbClr val="6A00D4"/>
                </a:solidFill>
                <a:latin typeface="Calibri"/>
              </a:defRPr>
            </a:pPr>
            <a:r>
              <a:t>Rangos tipicos en la industria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&lt; 50%  = Riesgoso, sin confianza</a:t>
            </a:r>
            <a:br/>
            <a:r>
              <a:t>50-70% = Aceptable, zonas criticas cubiertas</a:t>
            </a:r>
            <a:br/>
            <a:r>
              <a:t>70-85% = Bueno, estandar profesional</a:t>
            </a:r>
            <a:br/>
            <a:r>
              <a:t>&gt; 85%  = Excelente, alto nivel de confianza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566160"/>
            <a:ext cx="5212080" cy="1645920"/>
          </a:xfrm>
          <a:prstGeom prst="roundRect">
            <a:avLst/>
          </a:prstGeom>
          <a:solidFill>
            <a:srgbClr val="F6F3FC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>
              <a:spcAft>
                <a:spcPts val="400"/>
              </a:spcAft>
              <a:defRPr sz="1500" b="1" i="0">
                <a:solidFill>
                  <a:srgbClr val="6A00D4"/>
                </a:solidFill>
                <a:latin typeface="Calibri"/>
              </a:defRPr>
            </a:pPr>
            <a:r>
              <a:t>Para el proyecto final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Objetivo: minimo 60% de cobertura.</a:t>
            </a:r>
            <a:br/>
            <a:r>
              <a:t>Se evalua con coverage.py + reporte HTML.</a:t>
            </a:r>
            <a:br/>
            <a:r>
              <a:t>Incluir badge de cobertura en README.md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A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05   coverage.py — Instalacion y uso basico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03520" cy="914400"/>
          </a:xfrm>
          <a:prstGeom prst="roundRect">
            <a:avLst/>
          </a:prstGeom>
          <a:solidFill>
            <a:srgbClr val="F8F5FD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tlCol="0" anchor="ctr"/>
          <a:lstStyle/>
          <a:p>
            <a:pPr algn="l">
              <a:spcAft>
                <a:spcPts val="200"/>
              </a:spcAft>
              <a:defRPr sz="1600" b="0" i="0">
                <a:solidFill>
                  <a:srgbClr val="2C1845"/>
                </a:solidFill>
                <a:latin typeface="Consolas"/>
              </a:defRPr>
            </a:pPr>
            <a:r>
              <a:t>python -m pip install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6A00D4"/>
                </a:solidFill>
                <a:latin typeface="Calibri"/>
              </a:defRPr>
            </a:pPr>
            <a:r>
              <a:t>Ejecutar tests con cobertura: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11784"/>
            <a:ext cx="5303520" cy="1920240"/>
          </a:xfrm>
          <a:prstGeom prst="roundRect">
            <a:avLst/>
          </a:prstGeom>
          <a:solidFill>
            <a:srgbClr val="F8F5FD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tlCol="0" anchor="ctr"/>
          <a:lstStyle/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r>
              <a:rPr dirty="0"/>
              <a:t>python -m coverage run -m </a:t>
            </a:r>
            <a:r>
              <a:rPr dirty="0" err="1"/>
              <a:t>unittest</a:t>
            </a:r>
            <a:r>
              <a:rPr dirty="0"/>
              <a:t> discover -s tests -v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r>
              <a:rPr dirty="0"/>
              <a:t>python -m coverage report          # </a:t>
            </a:r>
            <a:r>
              <a:rPr dirty="0" err="1"/>
              <a:t>Reporte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terminal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r>
              <a:rPr dirty="0"/>
              <a:t>python -m coverage html            # Genera </a:t>
            </a:r>
            <a:r>
              <a:rPr dirty="0" err="1"/>
              <a:t>htmlcov</a:t>
            </a:r>
            <a:r>
              <a:rPr dirty="0"/>
              <a:t>/index.html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r>
              <a:rPr dirty="0"/>
              <a:t>python -m coverage report --fail-under=60  # </a:t>
            </a:r>
            <a:r>
              <a:rPr dirty="0" err="1"/>
              <a:t>Falla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&lt; 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6A00D4"/>
                </a:solidFill>
                <a:latin typeface="Calibri"/>
              </a:defRPr>
            </a:pPr>
            <a:r>
              <a:t>Archivo de configuracion (.coveragerc):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303520"/>
            <a:ext cx="5303520" cy="1188720"/>
          </a:xfrm>
          <a:prstGeom prst="roundRect">
            <a:avLst/>
          </a:prstGeom>
          <a:solidFill>
            <a:srgbClr val="F8F5FD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tlCol="0" anchor="ctr"/>
          <a:lstStyle/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r>
              <a:rPr dirty="0"/>
              <a:t>[run]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r>
              <a:rPr dirty="0"/>
              <a:t>source = </a:t>
            </a:r>
            <a:r>
              <a:t>src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r>
              <a:rPr dirty="0"/>
              <a:t>omit = tests/*, </a:t>
            </a:r>
            <a:r>
              <a:rPr dirty="0" err="1"/>
              <a:t>venv</a:t>
            </a:r>
            <a:r>
              <a:rPr dirty="0"/>
              <a:t>/*, setup.py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r>
              <a:rPr dirty="0"/>
              <a:t>[report]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r>
              <a:rPr dirty="0" err="1"/>
              <a:t>show_missing</a:t>
            </a:r>
            <a:r>
              <a:rPr dirty="0"/>
              <a:t> = True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r>
              <a:rPr dirty="0" err="1"/>
              <a:t>fail_under</a:t>
            </a:r>
            <a:r>
              <a:rPr dirty="0"/>
              <a:t> =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188720"/>
            <a:ext cx="5212080" cy="1828800"/>
          </a:xfrm>
          <a:prstGeom prst="roundRect">
            <a:avLst/>
          </a:prstGeom>
          <a:solidFill>
            <a:srgbClr val="F6F3FC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>
              <a:spcAft>
                <a:spcPts val="400"/>
              </a:spcAft>
              <a:defRPr sz="1500" b="1" i="0">
                <a:solidFill>
                  <a:srgbClr val="6A00D4"/>
                </a:solidFill>
                <a:latin typeface="Calibri"/>
              </a:defRPr>
            </a:pPr>
            <a:r>
              <a:t>Reporte en terminal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Name               Stmts  Miss  Cover</a:t>
            </a:r>
            <a:br/>
            <a:r>
              <a:t>-------------------------------------</a:t>
            </a:r>
            <a:br/>
            <a:r>
              <a:t>src/model.py          45    12    73%</a:t>
            </a:r>
            <a:br/>
            <a:r>
              <a:t>src/preprocess.py     30     5    83%</a:t>
            </a:r>
            <a:br/>
            <a:r>
              <a:t>src/app.py            60    25    58%</a:t>
            </a:r>
            <a:br/>
            <a:r>
              <a:t>-------------------------------------</a:t>
            </a:r>
            <a:br/>
            <a:r>
              <a:t>TOTAL                135    42    69%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291840"/>
            <a:ext cx="5212080" cy="1645920"/>
          </a:xfrm>
          <a:prstGeom prst="roundRect">
            <a:avLst/>
          </a:prstGeom>
          <a:solidFill>
            <a:srgbClr val="F6F3FC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>
              <a:spcAft>
                <a:spcPts val="400"/>
              </a:spcAft>
              <a:defRPr sz="1500" b="1" i="0">
                <a:solidFill>
                  <a:srgbClr val="6A00D4"/>
                </a:solidFill>
                <a:latin typeface="Calibri"/>
              </a:defRPr>
            </a:pPr>
            <a:r>
              <a:t>Reporte HTML (recomendado)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Abre htmlcov/index.html en el navegador.</a:t>
            </a:r>
            <a:br/>
            <a:r>
              <a:t>Lineas VERDES = ejecutadas por tests.</a:t>
            </a:r>
            <a:br/>
            <a:r>
              <a:t>Lineas ROJAS = NO ejecutadas.</a:t>
            </a:r>
            <a:br/>
            <a:r>
              <a:t>Click en cada archivo para ver detalle.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5212080"/>
            <a:ext cx="5212080" cy="1188720"/>
          </a:xfrm>
          <a:prstGeom prst="roundRect">
            <a:avLst/>
          </a:prstGeom>
          <a:solidFill>
            <a:srgbClr val="F6F3FC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>
              <a:spcAft>
                <a:spcPts val="400"/>
              </a:spcAft>
              <a:defRPr sz="1500" b="1" i="0">
                <a:solidFill>
                  <a:srgbClr val="6A00D4"/>
                </a:solidFill>
                <a:latin typeface="Calibri"/>
              </a:defRPr>
            </a:pPr>
            <a:r>
              <a:t>Integrar en GitHub Actions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Agregar al ci.yml:</a:t>
            </a:r>
            <a:br/>
            <a:r>
              <a:t>  - run: python -m pip install coverage</a:t>
            </a:r>
            <a:br/>
            <a:r>
              <a:t>  - run: python -m coverage run -m unittest discover</a:t>
            </a:r>
            <a:br/>
            <a:r>
              <a:t>  - run: python -m coverage report --fail-under=60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A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06   Interpretar el reporte de cobertura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 i="0">
                <a:solidFill>
                  <a:srgbClr val="6A00D4"/>
                </a:solidFill>
                <a:latin typeface="Calibri"/>
              </a:defRPr>
            </a:pPr>
            <a:r>
              <a:t>Ejemplo: funcion calcular_descuento()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303520" cy="3200400"/>
          </a:xfrm>
          <a:prstGeom prst="roundRect">
            <a:avLst/>
          </a:prstGeom>
          <a:solidFill>
            <a:srgbClr val="F8F5FD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tlCol="0" anchor="ctr"/>
          <a:lstStyle/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r>
              <a:t>def calcular_descuento(precio, tipo):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r>
              <a:t>    if precio &lt;= 0: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r>
              <a:t>        raise ValueError("Precio invalido")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r>
              <a:t>    if tipo == "vip":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r>
              <a:t>        return precio * 0.8    # 20% descuento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r>
              <a:t>    elif tipo == "estudiante":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r>
              <a:t>        return precio * 0.85   # 15% descuento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r>
              <a:t>    elif tipo == "mayorista":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r>
              <a:t>        return precio * 0.7    # 30% descuento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r>
              <a:t>    else: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r>
              <a:t>        return precio           # Sin descuento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303520" cy="2286000"/>
          </a:xfrm>
          <a:prstGeom prst="roundRect">
            <a:avLst/>
          </a:prstGeom>
          <a:solidFill>
            <a:srgbClr val="F8F5FD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tlCol="0" anchor="ctr"/>
          <a:lstStyle/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r>
              <a:t>class TestDescuento(unittest.TestCase):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endParaRPr/>
          </a:p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r>
              <a:t>    def test_vip(self):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r>
              <a:t>        self.assertEqual(calcular_descuento(100, "vip"), 80)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endParaRPr/>
          </a:p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r>
              <a:t>    def test_precio_negativo(self):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r>
              <a:t>        with self.assertRaises(ValueError):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r>
              <a:t>            calcular_descuento(-10, "vip")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663440"/>
            <a:ext cx="5303520" cy="164592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l">
              <a:spcAft>
                <a:spcPts val="600"/>
              </a:spcAft>
              <a:defRPr sz="1500" b="1" i="0">
                <a:solidFill>
                  <a:srgbClr val="D41A1A"/>
                </a:solidFill>
                <a:latin typeface="Calibri"/>
              </a:defRPr>
            </a:pPr>
            <a:r>
              <a:t>COBERTURA: 55%  (6/11 lineas)</a:t>
            </a:r>
          </a:p>
          <a:p>
            <a:pPr algn="l">
              <a:spcAft>
                <a:spcPts val="400"/>
              </a:spcAft>
              <a:defRPr sz="1400" b="1" i="0">
                <a:solidFill>
                  <a:srgbClr val="222222"/>
                </a:solidFill>
                <a:latin typeface="Calibri"/>
              </a:defRPr>
            </a:pPr>
            <a:r>
              <a:t>Falta testear: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D41A1A"/>
                </a:solidFill>
                <a:latin typeface="Calibri"/>
              </a:defRPr>
            </a:pPr>
            <a:r>
              <a:t>- tipo == "estudiante" (linea 7)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D41A1A"/>
                </a:solidFill>
                <a:latin typeface="Calibri"/>
              </a:defRPr>
            </a:pPr>
            <a:r>
              <a:t>- tipo == "mayorista" (linea 9)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D41A1A"/>
                </a:solidFill>
                <a:latin typeface="Calibri"/>
              </a:defRPr>
            </a:pPr>
            <a:r>
              <a:t>- else: sin descuento (linea 11)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A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07   Que es Refactoring?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 i="0">
                <a:solidFill>
                  <a:srgbClr val="6A00D4"/>
                </a:solidFill>
                <a:latin typeface="Calibri"/>
              </a:defRPr>
            </a:pPr>
            <a:r>
              <a:t>Definicion</a:t>
            </a:r>
          </a:p>
          <a:p>
            <a:pPr algn="l">
              <a:spcAft>
                <a:spcPts val="600"/>
              </a:spcAft>
              <a:defRPr sz="1700" b="0" i="0">
                <a:solidFill>
                  <a:srgbClr val="222222"/>
                </a:solidFill>
                <a:latin typeface="Calibri"/>
              </a:defRPr>
            </a:pPr>
            <a:r>
              <a:t>Refactoring = cambiar la ESTRUCTURA interna del codigo sin cambiar su COMPORTAMIENTO externo.</a:t>
            </a:r>
          </a:p>
          <a:p>
            <a:pPr algn="l">
              <a:spcAft>
                <a:spcPts val="400"/>
              </a:spcAft>
              <a:defRPr sz="1500" b="0" i="1">
                <a:solidFill>
                  <a:srgbClr val="666666"/>
                </a:solidFill>
                <a:latin typeface="Calibri"/>
              </a:defRPr>
            </a:pPr>
            <a:r>
              <a:t>El codigo hace lo mismo, pero esta mejor escrito.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926080"/>
            <a:ext cx="3474720" cy="2286000"/>
          </a:xfrm>
          <a:prstGeom prst="roundRect">
            <a:avLst/>
          </a:prstGeom>
          <a:solidFill>
            <a:srgbClr val="D4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Funciona</a:t>
            </a:r>
          </a:p>
          <a:p>
            <a:pPr algn="ctr">
              <a:spcAft>
                <a:spcPts val="40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ANTES</a:t>
            </a:r>
          </a:p>
          <a:p>
            <a:pPr algn="ctr">
              <a:spcAft>
                <a:spcPts val="200"/>
              </a:spcAft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El codigo pasa los tests</a:t>
            </a:r>
            <a:br/>
            <a:r>
              <a:t>pero es dificil de leer,</a:t>
            </a:r>
            <a:br/>
            <a:r>
              <a:t>con duplicacion y</a:t>
            </a:r>
            <a:br/>
            <a:r>
              <a:t>nombres confusos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926080"/>
            <a:ext cx="3474720" cy="2286000"/>
          </a:xfrm>
          <a:prstGeom prst="roundRect">
            <a:avLst/>
          </a:prstGeom>
          <a:solidFill>
            <a:srgbClr val="6A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Mejora</a:t>
            </a:r>
          </a:p>
          <a:p>
            <a:pPr algn="ctr">
              <a:spcAft>
                <a:spcPts val="40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REFACTOR</a:t>
            </a:r>
          </a:p>
          <a:p>
            <a:pPr algn="ctr">
              <a:spcAft>
                <a:spcPts val="200"/>
              </a:spcAft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Aplicas tecnicas</a:t>
            </a:r>
            <a:br/>
            <a:r>
              <a:t>de refactoring:</a:t>
            </a:r>
            <a:br/>
            <a:r>
              <a:t>renombrar, extraer,</a:t>
            </a:r>
            <a:br/>
            <a:r>
              <a:t>simplificar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926080"/>
            <a:ext cx="3474720" cy="2286000"/>
          </a:xfrm>
          <a:prstGeom prst="roundRect">
            <a:avLst/>
          </a:prstGeom>
          <a:solidFill>
            <a:srgbClr val="1A8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Brilla</a:t>
            </a:r>
          </a:p>
          <a:p>
            <a:pPr algn="ctr">
              <a:spcAft>
                <a:spcPts val="40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DESPUES</a:t>
            </a:r>
          </a:p>
          <a:p>
            <a:pPr algn="ctr">
              <a:spcAft>
                <a:spcPts val="200"/>
              </a:spcAft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Mismo comportamiento,</a:t>
            </a:r>
            <a:br/>
            <a:r>
              <a:t>codigo mas claro,</a:t>
            </a:r>
            <a:br/>
            <a:r>
              <a:t>facil de mantener</a:t>
            </a:r>
            <a:br/>
            <a:r>
              <a:t>y extender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69080" y="3749039"/>
            <a:ext cx="274320" cy="4572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7909560" y="3749039"/>
            <a:ext cx="274320" cy="4572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5486400"/>
            <a:ext cx="11064240" cy="914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l">
              <a:spcAft>
                <a:spcPts val="400"/>
              </a:spcAft>
              <a:defRPr sz="1400" b="1" i="0">
                <a:solidFill>
                  <a:srgbClr val="1A8F4C"/>
                </a:solidFill>
                <a:latin typeface="Calibri"/>
              </a:defRPr>
            </a:pPr>
            <a:r>
              <a:t>REGLA DE ORO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22222"/>
                </a:solidFill>
                <a:latin typeface="Calibri"/>
              </a:defRPr>
            </a:pPr>
            <a:r>
              <a:t>NUNCA refactorizar sin tests que pasen ANTES y DESPUES. Los tests son tu red de seguridad.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A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08   Cuando refactorizar? (Code Smells)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700" b="0" i="1">
                <a:solidFill>
                  <a:srgbClr val="666666"/>
                </a:solidFill>
                <a:latin typeface="Calibri"/>
              </a:defRPr>
            </a:pPr>
            <a:r>
              <a:t>Code Smells = senales de que el codigo necesita refactoring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474720" cy="1463040"/>
          </a:xfrm>
          <a:prstGeom prst="roundRect">
            <a:avLst/>
          </a:prstGeom>
          <a:solidFill>
            <a:srgbClr val="F6F3FC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>
              <a:spcAft>
                <a:spcPts val="400"/>
              </a:spcAft>
              <a:defRPr sz="1500" b="1" i="0">
                <a:solidFill>
                  <a:srgbClr val="6A00D4"/>
                </a:solidFill>
                <a:latin typeface="Calibri"/>
              </a:defRPr>
            </a:pPr>
            <a:r>
              <a:t>Funciones largas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Una funcion hace demasiadas cosas.</a:t>
            </a:r>
            <a:br/>
            <a:r>
              <a:t>Mas de 20 lineas = sospechoso.</a:t>
            </a:r>
            <a:br/>
            <a:r>
              <a:t>Solucion: Extract Method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920240"/>
            <a:ext cx="3474720" cy="1463040"/>
          </a:xfrm>
          <a:prstGeom prst="roundRect">
            <a:avLst/>
          </a:prstGeom>
          <a:solidFill>
            <a:srgbClr val="F6F3FC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>
              <a:spcAft>
                <a:spcPts val="400"/>
              </a:spcAft>
              <a:defRPr sz="1500" b="1" i="0">
                <a:solidFill>
                  <a:srgbClr val="6A00D4"/>
                </a:solidFill>
                <a:latin typeface="Calibri"/>
              </a:defRPr>
            </a:pPr>
            <a:r>
              <a:t>Codigo duplicado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Misma logica en 2+ lugares.</a:t>
            </a:r>
            <a:br/>
            <a:r>
              <a:t>Cambiar uno = cambiar todos.</a:t>
            </a:r>
            <a:br/>
            <a:r>
              <a:t>Solucion: Extract Method/Class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920240"/>
            <a:ext cx="3749039" cy="1463040"/>
          </a:xfrm>
          <a:prstGeom prst="roundRect">
            <a:avLst/>
          </a:prstGeom>
          <a:solidFill>
            <a:srgbClr val="F6F3FC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>
              <a:spcAft>
                <a:spcPts val="400"/>
              </a:spcAft>
              <a:defRPr sz="1500" b="1" i="0">
                <a:solidFill>
                  <a:srgbClr val="6A00D4"/>
                </a:solidFill>
                <a:latin typeface="Calibri"/>
              </a:defRPr>
            </a:pPr>
            <a:r>
              <a:t>Nombres confusos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Variables: x, temp, data, aux.</a:t>
            </a:r>
            <a:br/>
            <a:r>
              <a:t>Funciones: procesar(), hacer().</a:t>
            </a:r>
            <a:br/>
            <a:r>
              <a:t>Solucion: Rename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3474720" cy="1463040"/>
          </a:xfrm>
          <a:prstGeom prst="roundRect">
            <a:avLst/>
          </a:prstGeom>
          <a:solidFill>
            <a:srgbClr val="F6F3FC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>
              <a:spcAft>
                <a:spcPts val="400"/>
              </a:spcAft>
              <a:defRPr sz="1500" b="1" i="0">
                <a:solidFill>
                  <a:srgbClr val="6A00D4"/>
                </a:solidFill>
                <a:latin typeface="Calibri"/>
              </a:defRPr>
            </a:pPr>
            <a:r>
              <a:t>Numeros magicos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if precio &gt; 1000: descuento = 0.15</a:t>
            </a:r>
            <a:br/>
            <a:r>
              <a:t>Que significa 1000? Y 0.15?</a:t>
            </a:r>
            <a:br/>
            <a:r>
              <a:t>Solucion: Extract Constant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3657600"/>
            <a:ext cx="3474720" cy="1463040"/>
          </a:xfrm>
          <a:prstGeom prst="roundRect">
            <a:avLst/>
          </a:prstGeom>
          <a:solidFill>
            <a:srgbClr val="F6F3FC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>
              <a:spcAft>
                <a:spcPts val="400"/>
              </a:spcAft>
              <a:defRPr sz="1500" b="1" i="0">
                <a:solidFill>
                  <a:srgbClr val="6A00D4"/>
                </a:solidFill>
                <a:latin typeface="Calibri"/>
              </a:defRPr>
            </a:pPr>
            <a:r>
              <a:t>Comentarios excesivos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Si necesitas muchos comentarios</a:t>
            </a:r>
            <a:br/>
            <a:r>
              <a:t>para explicar que hace el codigo,</a:t>
            </a:r>
            <a:br/>
            <a:r>
              <a:t>el codigo esta mal escrito.</a:t>
            </a:r>
            <a:br/>
            <a:r>
              <a:t>Solucion: Rename + simplificar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657600"/>
            <a:ext cx="3749039" cy="1463040"/>
          </a:xfrm>
          <a:prstGeom prst="roundRect">
            <a:avLst/>
          </a:prstGeom>
          <a:solidFill>
            <a:srgbClr val="F6F3FC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>
              <a:spcAft>
                <a:spcPts val="400"/>
              </a:spcAft>
              <a:defRPr sz="1500" b="1" i="0">
                <a:solidFill>
                  <a:srgbClr val="6A00D4"/>
                </a:solidFill>
                <a:latin typeface="Calibri"/>
              </a:defRPr>
            </a:pPr>
            <a:r>
              <a:t>Dios Objeto / Funcion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Una clase/funcion que hace TODO.</a:t>
            </a:r>
            <a:br/>
            <a:r>
              <a:t>Viola responsabilidad unica.</a:t>
            </a:r>
            <a:br/>
            <a:r>
              <a:t>Solucion: Extract Class/Method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394960"/>
            <a:ext cx="11064240" cy="1005840"/>
          </a:xfrm>
          <a:prstGeom prst="roundRect">
            <a:avLst/>
          </a:prstGeom>
          <a:solidFill>
            <a:srgbClr val="F1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l">
              <a:spcAft>
                <a:spcPts val="400"/>
              </a:spcAft>
              <a:defRPr sz="1400" b="1" i="0">
                <a:solidFill>
                  <a:srgbClr val="6A00D4"/>
                </a:solidFill>
                <a:latin typeface="Calibri"/>
              </a:defRPr>
            </a:pPr>
            <a:r>
              <a:t>REGLA DEL BOY SCOUT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222222"/>
                </a:solidFill>
                <a:latin typeface="Calibri"/>
              </a:defRPr>
            </a:pPr>
            <a:r>
              <a:t>"Deja el codigo mas limpio de como lo encontraste." — Robert C. Martin. Cada vez que tocas un archivo, mejoralo un poco.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A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09   Tecnica 1: Rename (Renombrar)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700" b="0" i="1">
                <a:solidFill>
                  <a:srgbClr val="666666"/>
                </a:solidFill>
                <a:latin typeface="Calibri"/>
              </a:defRPr>
            </a:pPr>
            <a:r>
              <a:t>El refactoring mas simple y mas poderoso.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03520" cy="2560320"/>
          </a:xfrm>
          <a:prstGeom prst="roundRect">
            <a:avLst/>
          </a:prstGeom>
          <a:solidFill>
            <a:srgbClr val="F8F5FD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tlCol="0" anchor="ctr"/>
          <a:lstStyle/>
          <a:p>
            <a:pPr algn="l">
              <a:spcAft>
                <a:spcPts val="200"/>
              </a:spcAft>
              <a:defRPr sz="1500" b="0" i="0">
                <a:solidFill>
                  <a:srgbClr val="2C1845"/>
                </a:solidFill>
                <a:latin typeface="Consolas"/>
              </a:defRPr>
            </a:pPr>
            <a:r>
              <a:t># ANTES (nombres confusos)</a:t>
            </a:r>
          </a:p>
          <a:p>
            <a:pPr algn="l">
              <a:spcAft>
                <a:spcPts val="200"/>
              </a:spcAft>
              <a:defRPr sz="1500" b="0" i="0">
                <a:solidFill>
                  <a:srgbClr val="2C1845"/>
                </a:solidFill>
                <a:latin typeface="Consolas"/>
              </a:defRPr>
            </a:pPr>
            <a:r>
              <a:t>def proc(d, t):</a:t>
            </a:r>
          </a:p>
          <a:p>
            <a:pPr algn="l">
              <a:spcAft>
                <a:spcPts val="200"/>
              </a:spcAft>
              <a:defRPr sz="1500" b="0" i="0">
                <a:solidFill>
                  <a:srgbClr val="2C1845"/>
                </a:solidFill>
                <a:latin typeface="Consolas"/>
              </a:defRPr>
            </a:pPr>
            <a:r>
              <a:t>    r = d * t</a:t>
            </a:r>
          </a:p>
          <a:p>
            <a:pPr algn="l">
              <a:spcAft>
                <a:spcPts val="200"/>
              </a:spcAft>
              <a:defRPr sz="1500" b="0" i="0">
                <a:solidFill>
                  <a:srgbClr val="2C1845"/>
                </a:solidFill>
                <a:latin typeface="Consolas"/>
              </a:defRPr>
            </a:pPr>
            <a:r>
              <a:t>    if r &gt; 1000:</a:t>
            </a:r>
          </a:p>
          <a:p>
            <a:pPr algn="l">
              <a:spcAft>
                <a:spcPts val="200"/>
              </a:spcAft>
              <a:defRPr sz="1500" b="0" i="0">
                <a:solidFill>
                  <a:srgbClr val="2C1845"/>
                </a:solidFill>
                <a:latin typeface="Consolas"/>
              </a:defRPr>
            </a:pPr>
            <a:r>
              <a:t>        r = r * 0.9</a:t>
            </a:r>
          </a:p>
          <a:p>
            <a:pPr algn="l">
              <a:spcAft>
                <a:spcPts val="200"/>
              </a:spcAft>
              <a:defRPr sz="1500" b="0" i="0">
                <a:solidFill>
                  <a:srgbClr val="2C1845"/>
                </a:solidFill>
                <a:latin typeface="Consolas"/>
              </a:defRPr>
            </a:pPr>
            <a:r>
              <a:t>    return r</a:t>
            </a:r>
          </a:p>
          <a:p>
            <a:pPr algn="l">
              <a:spcAft>
                <a:spcPts val="200"/>
              </a:spcAft>
              <a:defRPr sz="1500" b="0" i="0">
                <a:solidFill>
                  <a:srgbClr val="2C1845"/>
                </a:solidFill>
                <a:latin typeface="Consolas"/>
              </a:defRPr>
            </a:pPr>
            <a:endParaRPr/>
          </a:p>
          <a:p>
            <a:pPr algn="l">
              <a:spcAft>
                <a:spcPts val="200"/>
              </a:spcAft>
              <a:defRPr sz="1500" b="0" i="0">
                <a:solidFill>
                  <a:srgbClr val="2C1845"/>
                </a:solidFill>
                <a:latin typeface="Consolas"/>
              </a:defRPr>
            </a:pPr>
            <a:r>
              <a:t>x = proc(150, 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920240"/>
            <a:ext cx="5303520" cy="2560320"/>
          </a:xfrm>
          <a:prstGeom prst="roundRect">
            <a:avLst/>
          </a:prstGeom>
          <a:solidFill>
            <a:srgbClr val="F8F5FD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tlCol="0" anchor="ctr"/>
          <a:lstStyle/>
          <a:p>
            <a:pPr algn="l">
              <a:spcAft>
                <a:spcPts val="200"/>
              </a:spcAft>
              <a:defRPr sz="1500" b="0" i="0">
                <a:solidFill>
                  <a:srgbClr val="2C1845"/>
                </a:solidFill>
                <a:latin typeface="Consolas"/>
              </a:defRPr>
            </a:pPr>
            <a:r>
              <a:t># DESPUES (nombres claros)</a:t>
            </a:r>
          </a:p>
          <a:p>
            <a:pPr algn="l">
              <a:spcAft>
                <a:spcPts val="200"/>
              </a:spcAft>
              <a:defRPr sz="1500" b="0" i="0">
                <a:solidFill>
                  <a:srgbClr val="2C1845"/>
                </a:solidFill>
                <a:latin typeface="Consolas"/>
              </a:defRPr>
            </a:pPr>
            <a:r>
              <a:t>def calcular_total(precio_unitario, cantidad):</a:t>
            </a:r>
          </a:p>
          <a:p>
            <a:pPr algn="l">
              <a:spcAft>
                <a:spcPts val="200"/>
              </a:spcAft>
              <a:defRPr sz="1500" b="0" i="0">
                <a:solidFill>
                  <a:srgbClr val="2C1845"/>
                </a:solidFill>
                <a:latin typeface="Consolas"/>
              </a:defRPr>
            </a:pPr>
            <a:r>
              <a:t>    total = precio_unitario * cantidad</a:t>
            </a:r>
          </a:p>
          <a:p>
            <a:pPr algn="l">
              <a:spcAft>
                <a:spcPts val="200"/>
              </a:spcAft>
              <a:defRPr sz="1500" b="0" i="0">
                <a:solidFill>
                  <a:srgbClr val="2C1845"/>
                </a:solidFill>
                <a:latin typeface="Consolas"/>
              </a:defRPr>
            </a:pPr>
            <a:r>
              <a:t>    if total &gt; UMBRAL_DESCUENTO:</a:t>
            </a:r>
          </a:p>
          <a:p>
            <a:pPr algn="l">
              <a:spcAft>
                <a:spcPts val="200"/>
              </a:spcAft>
              <a:defRPr sz="1500" b="0" i="0">
                <a:solidFill>
                  <a:srgbClr val="2C1845"/>
                </a:solidFill>
                <a:latin typeface="Consolas"/>
              </a:defRPr>
            </a:pPr>
            <a:r>
              <a:t>        total *= FACTOR_DESCUENTO</a:t>
            </a:r>
          </a:p>
          <a:p>
            <a:pPr algn="l">
              <a:spcAft>
                <a:spcPts val="200"/>
              </a:spcAft>
              <a:defRPr sz="1500" b="0" i="0">
                <a:solidFill>
                  <a:srgbClr val="2C1845"/>
                </a:solidFill>
                <a:latin typeface="Consolas"/>
              </a:defRPr>
            </a:pPr>
            <a:r>
              <a:t>    return total</a:t>
            </a:r>
          </a:p>
          <a:p>
            <a:pPr algn="l">
              <a:spcAft>
                <a:spcPts val="200"/>
              </a:spcAft>
              <a:defRPr sz="1500" b="0" i="0">
                <a:solidFill>
                  <a:srgbClr val="2C1845"/>
                </a:solidFill>
                <a:latin typeface="Consolas"/>
              </a:defRPr>
            </a:pPr>
            <a:endParaRPr/>
          </a:p>
          <a:p>
            <a:pPr algn="l">
              <a:spcAft>
                <a:spcPts val="200"/>
              </a:spcAft>
              <a:defRPr sz="1500" b="0" i="0">
                <a:solidFill>
                  <a:srgbClr val="2C1845"/>
                </a:solidFill>
                <a:latin typeface="Consolas"/>
              </a:defRPr>
            </a:pPr>
            <a:r>
              <a:t>total_pedido = calcular_total(150, 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754880"/>
            <a:ext cx="11064240" cy="18288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l">
              <a:spcAft>
                <a:spcPts val="600"/>
              </a:spcAft>
              <a:defRPr sz="1400" b="1" i="0">
                <a:solidFill>
                  <a:srgbClr val="1A8F4C"/>
                </a:solidFill>
                <a:latin typeface="Calibri"/>
              </a:defRPr>
            </a:pPr>
            <a:r>
              <a:t>REGLAS PARA BUENOS NOMBRES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Variables: sustantivos descriptivos (precio_total, nombre_usuario, lista_productos)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Funciones: verbos + complemento (calcular_total, validar_email, obtener_usuario_por_id)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Booleanos: prefijo es/tiene/puede (es_valido, tiene_descuento, puede_editar)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Constantes: MAYUSCULAS_CON_GUIONES (MAX_INTENTOS, TASA_IVA, UMBRAL_DESCUENTO)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A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10   Tecnica 2: Extract Method (Extraer funcion)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700" b="0" i="1">
                <a:solidFill>
                  <a:srgbClr val="666666"/>
                </a:solidFill>
                <a:latin typeface="Calibri"/>
              </a:defRPr>
            </a:pPr>
            <a:r>
              <a:t>Separar un bloque de codigo en su propia funcion.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03520" cy="4114800"/>
          </a:xfrm>
          <a:prstGeom prst="roundRect">
            <a:avLst/>
          </a:prstGeom>
          <a:solidFill>
            <a:srgbClr val="F8F5FD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tlCol="0" anchor="ctr"/>
          <a:lstStyle/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# ANTES: funcion que hace demasiado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def procesar_pedido(pedido):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# Validar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if not pedido.items: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    raise ValueError("Pedido vacio")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if not pedido.cliente: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    raise ValueError("Sin cliente")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endParaRPr/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# Calcular total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total = 0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for item in pedido.items: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    total += item.precio * item.cantidad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if total &gt; 1000: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    total *= 0.9  # descuento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endParaRPr/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# Enviar email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msg = f"Pedido #{pedido.id}: ${total}"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enviar_email(pedido.cliente.email, msg)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return 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920240"/>
            <a:ext cx="5303520" cy="4114800"/>
          </a:xfrm>
          <a:prstGeom prst="roundRect">
            <a:avLst/>
          </a:prstGeom>
          <a:solidFill>
            <a:srgbClr val="F8F5FD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tlCol="0" anchor="ctr"/>
          <a:lstStyle/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# DESPUES: cada funcion hace UNA cosa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def validar_pedido(pedido):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if not pedido.items: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    raise ValueError("Pedido vacio")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if not pedido.cliente: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    raise ValueError("Sin cliente")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endParaRPr/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def calcular_total(items):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total = sum(i.precio * i.cantidad for i in items)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if total &gt; UMBRAL_DESCUENTO: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    total *= FACTOR_DESCUENTO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return total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endParaRPr/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def procesar_pedido(pedido):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validar_pedido(pedido)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total = calcular_total(pedido.items)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notificar_cliente(pedido, total)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return total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A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11   Tecnica 3: Extract Constant + Simplificar condicionales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03520" cy="2286000"/>
          </a:xfrm>
          <a:prstGeom prst="roundRect">
            <a:avLst/>
          </a:prstGeom>
          <a:solidFill>
            <a:srgbClr val="F8F5FD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tlCol="0" anchor="ctr"/>
          <a:lstStyle/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r>
              <a:t># ANTES: numeros magicos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r>
              <a:t>def calcular_envio(peso, distancia):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r>
              <a:t>    if peso &gt; 30: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r>
              <a:t>        return distancia * 0.05 + 15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r>
              <a:t>    elif peso &gt; 10: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r>
              <a:t>        return distancia * 0.03 + 8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r>
              <a:t>    else:</a:t>
            </a:r>
          </a:p>
          <a:p>
            <a:pPr algn="l">
              <a:spcAft>
                <a:spcPts val="200"/>
              </a:spcAft>
              <a:defRPr sz="1400" b="0" i="0">
                <a:solidFill>
                  <a:srgbClr val="2C1845"/>
                </a:solidFill>
                <a:latin typeface="Consolas"/>
              </a:defRPr>
            </a:pPr>
            <a:r>
              <a:t>        return distancia * 0.01 + 3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88720"/>
            <a:ext cx="5303520" cy="3200400"/>
          </a:xfrm>
          <a:prstGeom prst="roundRect">
            <a:avLst/>
          </a:prstGeom>
          <a:solidFill>
            <a:srgbClr val="F8F5FD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tlCol="0" anchor="ctr"/>
          <a:lstStyle/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r>
              <a:t># DESPUES: constantes con nombre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r>
              <a:t>PESO_GRANDE = 30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r>
              <a:t>PESO_MEDIANO = 10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endParaRPr/>
          </a:p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r>
              <a:t>TARIFAS = {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r>
              <a:t>    "grande":  {"km": 0.05, "base": 15},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r>
              <a:t>    "mediano": {"km": 0.03, "base": 8},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r>
              <a:t>    "pequeno": {"km": 0.01, "base": 3},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endParaRPr/>
          </a:p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r>
              <a:t>def clasificar_paquete(peso):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r>
              <a:t>    if peso &gt; PESO_GRANDE: return "grande"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r>
              <a:t>    if peso &gt; PESO_MEDIANO: return "mediano"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r>
              <a:t>    return "pequeno"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endParaRPr/>
          </a:p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r>
              <a:t>def calcular_envio(peso, distancia):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r>
              <a:t>    t = TARIFAS[clasificar_paquete(peso)]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r>
              <a:t>    return distancia * t["km"] + t["base"]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846320"/>
            <a:ext cx="11064240" cy="1645920"/>
          </a:xfrm>
          <a:prstGeom prst="roundRect">
            <a:avLst/>
          </a:prstGeom>
          <a:solidFill>
            <a:srgbClr val="F1E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l">
              <a:spcAft>
                <a:spcPts val="600"/>
              </a:spcAft>
              <a:defRPr sz="1400" b="1" i="0">
                <a:solidFill>
                  <a:srgbClr val="6A00D4"/>
                </a:solidFill>
                <a:latin typeface="Calibri"/>
              </a:defRPr>
            </a:pPr>
            <a:r>
              <a:t>BENEFICIOS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Si la tarifa cambia, se modifica en UN solo lugar (la constante/diccionario)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El codigo se lee como prosa: clasificar_paquete() dice exactamente lo que hace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Cada funcion es pequena y testeable por separado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A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12   Refactoring dentro del ciclo TDD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 i="0">
                <a:solidFill>
                  <a:srgbClr val="6A00D4"/>
                </a:solidFill>
                <a:latin typeface="Calibri"/>
              </a:defRPr>
            </a:pPr>
            <a:r>
              <a:t>Recuerda: Refactor es la 3ra fase del ciclo TDD</a:t>
            </a:r>
          </a:p>
          <a:p>
            <a:pPr algn="l">
              <a:spcAft>
                <a:spcPts val="600"/>
              </a:spcAft>
              <a:defRPr sz="1600" b="0" i="1">
                <a:solidFill>
                  <a:srgbClr val="666666"/>
                </a:solidFill>
                <a:latin typeface="Calibri"/>
              </a:defRPr>
            </a:pPr>
            <a:r>
              <a:t>Solo se refactoriza cuando los tests estan en GREEN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200400" cy="2011680"/>
          </a:xfrm>
          <a:prstGeom prst="roundRect">
            <a:avLst/>
          </a:prstGeom>
          <a:solidFill>
            <a:srgbClr val="D4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Falla</a:t>
            </a:r>
          </a:p>
          <a:p>
            <a:pPr algn="ctr">
              <a:spcAft>
                <a:spcPts val="40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RED</a:t>
            </a:r>
          </a:p>
          <a:p>
            <a:pPr algn="ctr">
              <a:spcAft>
                <a:spcPts val="200"/>
              </a:spcAft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Escribe el test primero.</a:t>
            </a:r>
            <a:br/>
            <a:r>
              <a:t>El test FALLA porque</a:t>
            </a:r>
            <a:br/>
            <a:r>
              <a:t>la funcion no existe.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286000"/>
            <a:ext cx="3200400" cy="2011680"/>
          </a:xfrm>
          <a:prstGeom prst="roundRect">
            <a:avLst/>
          </a:prstGeom>
          <a:solidFill>
            <a:srgbClr val="1A8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Pasa</a:t>
            </a:r>
          </a:p>
          <a:p>
            <a:pPr algn="ctr">
              <a:spcAft>
                <a:spcPts val="40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GREEN</a:t>
            </a:r>
          </a:p>
          <a:p>
            <a:pPr algn="ctr">
              <a:spcAft>
                <a:spcPts val="200"/>
              </a:spcAft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Escribe el codigo MINIMO</a:t>
            </a:r>
            <a:br/>
            <a:r>
              <a:t>para que el test pase.</a:t>
            </a:r>
            <a:br/>
            <a:r>
              <a:t>Sin preocuparte por</a:t>
            </a:r>
            <a:br/>
            <a:r>
              <a:t>elegancia.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2286000"/>
            <a:ext cx="3931920" cy="2011680"/>
          </a:xfrm>
          <a:prstGeom prst="roundRect">
            <a:avLst/>
          </a:prstGeom>
          <a:solidFill>
            <a:srgbClr val="6A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Limpia</a:t>
            </a:r>
          </a:p>
          <a:p>
            <a:pPr algn="ctr">
              <a:spcAft>
                <a:spcPts val="40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REFACTOR</a:t>
            </a:r>
          </a:p>
          <a:p>
            <a:pPr algn="ctr">
              <a:spcAft>
                <a:spcPts val="200"/>
              </a:spcAft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Los tests pasan.</a:t>
            </a:r>
            <a:br/>
            <a:r>
              <a:t>Ahora MEJORA el codigo:</a:t>
            </a:r>
            <a:br/>
            <a:r>
              <a:t>renombra, extrae,</a:t>
            </a:r>
            <a:br/>
            <a:r>
              <a:t>simplifica. Sin romper tests.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94760" y="2926080"/>
            <a:ext cx="274320" cy="4572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7360920" y="2926080"/>
            <a:ext cx="274320" cy="4572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4572000"/>
            <a:ext cx="11064240" cy="2011680"/>
          </a:xfrm>
          <a:prstGeom prst="roundRect">
            <a:avLst/>
          </a:prstGeom>
          <a:solidFill>
            <a:srgbClr val="F8F5FD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tlCol="0" anchor="ctr"/>
          <a:lstStyle/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r>
              <a:t># Workflow completo en terminal: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r>
              <a:t>python -m unittest discover -s tests -v        # 1. Verificar tests pasan (GREEN)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r>
              <a:t># ... refactorizas el codigo ...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r>
              <a:t>python -m unittest discover -s tests -v        # 2. Verificar que siguen pasando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r>
              <a:t>python -m coverage run -m unittest discover -s tests -v  # 3. Medir cobertura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r>
              <a:t>python -m coverage report                                # 4. Ver resultados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2C1845"/>
                </a:solidFill>
                <a:latin typeface="Consolas"/>
              </a:defRPr>
            </a:pPr>
            <a:r>
              <a:t>python -m coverage html                                  # 5. Reporte visual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A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13   Cobertura en tu pipeline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6A00D4"/>
                </a:solidFill>
                <a:latin typeface="Calibri"/>
              </a:defRPr>
            </a:pPr>
            <a:r>
              <a:t>Agregar coverage al GitHub Actions de tu proyecto final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6400800" cy="4389120"/>
          </a:xfrm>
          <a:prstGeom prst="roundRect">
            <a:avLst/>
          </a:prstGeom>
          <a:solidFill>
            <a:srgbClr val="F8F5FD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tlCol="0" anchor="ctr"/>
          <a:lstStyle/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# .github/workflows/ci.yml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name: CI - Mi Proyecto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endParaRPr/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on: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push: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branches: [ main, develop ]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pull_request: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branches: [ main ]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endParaRPr/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jobs: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test: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runs-on: ubuntu-latest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steps: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- uses: actions/checkout@v4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- uses: actions/setup-python@v5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  with: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    python-version: "3.11"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- run: pip install -r requirements.txt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- run: python -m pip install coverage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- name: Run tests with coverage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  run: |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    python -m coverage run -m unittest discover -s tests -v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    python -m coverage report --fail-under=60</a:t>
            </a:r>
          </a:p>
          <a:p>
            <a:pPr algn="l">
              <a:spcAft>
                <a:spcPts val="200"/>
              </a:spcAft>
              <a:defRPr sz="1200" b="0" i="0">
                <a:solidFill>
                  <a:srgbClr val="2C1845"/>
                </a:solidFill>
                <a:latin typeface="Consolas"/>
              </a:defRPr>
            </a:pPr>
            <a:r>
              <a:t>        python -m coverage html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920240"/>
            <a:ext cx="4297680" cy="1828800"/>
          </a:xfrm>
          <a:prstGeom prst="roundRect">
            <a:avLst/>
          </a:prstGeom>
          <a:solidFill>
            <a:srgbClr val="F6F3FC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>
              <a:spcAft>
                <a:spcPts val="400"/>
              </a:spcAft>
              <a:defRPr sz="1500" b="1" i="0">
                <a:solidFill>
                  <a:srgbClr val="6A00D4"/>
                </a:solidFill>
                <a:latin typeface="Calibri"/>
              </a:defRPr>
            </a:pPr>
            <a:r>
              <a:t>Que hace este workflow?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1. Se activa en push/PR a main</a:t>
            </a:r>
            <a:br/>
            <a:r>
              <a:t>2. Instala dependencias + coverage</a:t>
            </a:r>
            <a:br/>
            <a:r>
              <a:t>3. Ejecuta tests midiendo cobertura</a:t>
            </a:r>
            <a:br/>
            <a:r>
              <a:t>4. FALLA si cobertura &lt; 60%</a:t>
            </a:r>
            <a:br/>
            <a:r>
              <a:t>5. Genera reporte HTML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4023360"/>
            <a:ext cx="4297680" cy="1371600"/>
          </a:xfrm>
          <a:prstGeom prst="roundRect">
            <a:avLst/>
          </a:prstGeom>
          <a:solidFill>
            <a:srgbClr val="F6F3FC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>
              <a:spcAft>
                <a:spcPts val="400"/>
              </a:spcAft>
              <a:defRPr sz="1500" b="1" i="0">
                <a:solidFill>
                  <a:srgbClr val="6A00D4"/>
                </a:solidFill>
                <a:latin typeface="Calibri"/>
              </a:defRPr>
            </a:pPr>
            <a:r>
              <a:t>Badge de cobertura en README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Puedes agregar un badge automatico</a:t>
            </a:r>
            <a:br/>
            <a:r>
              <a:t>usando servicios como:</a:t>
            </a:r>
            <a:br/>
            <a:r>
              <a:t>- codecov.io (gratuito para open source)</a:t>
            </a:r>
            <a:br/>
            <a:r>
              <a:t>- coveralls.io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5669280"/>
            <a:ext cx="4297680" cy="914400"/>
          </a:xfrm>
          <a:prstGeom prst="roundRect">
            <a:avLst/>
          </a:prstGeom>
          <a:solidFill>
            <a:srgbClr val="F6F3FC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>
              <a:spcAft>
                <a:spcPts val="400"/>
              </a:spcAft>
              <a:defRPr sz="1500" b="1" i="0">
                <a:solidFill>
                  <a:srgbClr val="6A00D4"/>
                </a:solidFill>
                <a:latin typeface="Calibri"/>
              </a:defRPr>
            </a:pPr>
            <a:r>
              <a:t>Requisito proyecto final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El CI debe incluir coverage.</a:t>
            </a:r>
            <a:br/>
            <a:r>
              <a:t>Minimo 60% para aprobar.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A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14   Errores comunes al refactorizar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303520" cy="1371600"/>
          </a:xfrm>
          <a:prstGeom prst="roundRect">
            <a:avLst/>
          </a:prstGeom>
          <a:solidFill>
            <a:srgbClr val="F6F3FC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>
              <a:spcAft>
                <a:spcPts val="400"/>
              </a:spcAft>
              <a:defRPr sz="1500" b="1" i="0">
                <a:solidFill>
                  <a:srgbClr val="6A00D4"/>
                </a:solidFill>
                <a:latin typeface="Calibri"/>
              </a:defRPr>
            </a:pPr>
            <a:r>
              <a:t>Refactorizar sin tests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Si no hay tests, no hay forma de verificar que</a:t>
            </a:r>
            <a:br/>
            <a:r>
              <a:t>el comportamiento no cambio. PRIMERO escribe tests,</a:t>
            </a:r>
            <a:br/>
            <a:r>
              <a:t>DESPUES refactoriza.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303520" cy="1371600"/>
          </a:xfrm>
          <a:prstGeom prst="roundRect">
            <a:avLst/>
          </a:prstGeom>
          <a:solidFill>
            <a:srgbClr val="F6F3FC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>
              <a:spcAft>
                <a:spcPts val="400"/>
              </a:spcAft>
              <a:defRPr sz="1500" b="1" i="0">
                <a:solidFill>
                  <a:srgbClr val="6A00D4"/>
                </a:solidFill>
                <a:latin typeface="Calibri"/>
              </a:defRPr>
            </a:pPr>
            <a:r>
              <a:t>Cambiar comportamiento Y estructura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Refactoring = solo estructura. Si necesitas cambiar</a:t>
            </a:r>
            <a:br/>
            <a:r>
              <a:t>comportamiento, hazlo en un commit separado.</a:t>
            </a:r>
            <a:br/>
            <a:r>
              <a:t>Un commit = un tipo de cambio.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34640"/>
            <a:ext cx="5303520" cy="1371600"/>
          </a:xfrm>
          <a:prstGeom prst="roundRect">
            <a:avLst/>
          </a:prstGeom>
          <a:solidFill>
            <a:srgbClr val="F6F3FC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>
              <a:spcAft>
                <a:spcPts val="400"/>
              </a:spcAft>
              <a:defRPr sz="1500" b="1" i="0">
                <a:solidFill>
                  <a:srgbClr val="6A00D4"/>
                </a:solidFill>
                <a:latin typeface="Calibri"/>
              </a:defRPr>
            </a:pPr>
            <a:r>
              <a:t>Refactorizar todo de una vez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Pasos pequenos. Refactoriza UNA cosa, corre tests,</a:t>
            </a:r>
            <a:br/>
            <a:r>
              <a:t>commit. Otra cosa, tests, commit.</a:t>
            </a:r>
            <a:br/>
            <a:r>
              <a:t>Si algo falla, solo deshaces el ultimo paso.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834640"/>
            <a:ext cx="5303520" cy="1371600"/>
          </a:xfrm>
          <a:prstGeom prst="roundRect">
            <a:avLst/>
          </a:prstGeom>
          <a:solidFill>
            <a:srgbClr val="F6F3FC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>
              <a:spcAft>
                <a:spcPts val="400"/>
              </a:spcAft>
              <a:defRPr sz="1500" b="1" i="0">
                <a:solidFill>
                  <a:srgbClr val="6A00D4"/>
                </a:solidFill>
                <a:latin typeface="Calibri"/>
              </a:defRPr>
            </a:pPr>
            <a:r>
              <a:t>Obsesionarse con 100% cobertura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Getters, setters y __init__ triviales no necesitan</a:t>
            </a:r>
            <a:br/>
            <a:r>
              <a:t>tests propios. Enfocate en logica de negocio,</a:t>
            </a:r>
            <a:br/>
            <a:r>
              <a:t>calculos, validaciones y flujos condicionales.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480560"/>
            <a:ext cx="5303520" cy="1371600"/>
          </a:xfrm>
          <a:prstGeom prst="roundRect">
            <a:avLst/>
          </a:prstGeom>
          <a:solidFill>
            <a:srgbClr val="F6F3FC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>
              <a:spcAft>
                <a:spcPts val="400"/>
              </a:spcAft>
              <a:defRPr sz="1500" b="1" i="0">
                <a:solidFill>
                  <a:srgbClr val="6A00D4"/>
                </a:solidFill>
                <a:latin typeface="Calibri"/>
              </a:defRPr>
            </a:pPr>
            <a:r>
              <a:t>Perseguir cobertura con tests vacios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Un test que llama la funcion pero no tiene</a:t>
            </a:r>
            <a:br/>
            <a:r>
              <a:t>assert no verifica nada. Cobertura alta +</a:t>
            </a:r>
            <a:br/>
            <a:r>
              <a:t>asserts bajos = falsa confianza.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480560"/>
            <a:ext cx="5303520" cy="1371600"/>
          </a:xfrm>
          <a:prstGeom prst="roundRect">
            <a:avLst/>
          </a:prstGeom>
          <a:solidFill>
            <a:srgbClr val="F6F3FC"/>
          </a:solidFill>
          <a:ln w="12700">
            <a:solidFill>
              <a:srgbClr val="D6C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l">
              <a:spcAft>
                <a:spcPts val="400"/>
              </a:spcAft>
              <a:defRPr sz="1500" b="1" i="0">
                <a:solidFill>
                  <a:srgbClr val="6A00D4"/>
                </a:solidFill>
                <a:latin typeface="Calibri"/>
              </a:defRPr>
            </a:pPr>
            <a:r>
              <a:t>Ignorar branch coverage</a:t>
            </a:r>
          </a:p>
          <a:p>
            <a:pPr algn="l">
              <a:spcAft>
                <a:spcPts val="200"/>
              </a:spcAft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Si solo mides lineas, puedes tener 90% pero</a:t>
            </a:r>
            <a:br/>
            <a:r>
              <a:t>no testear ningun else/except/elif.</a:t>
            </a:r>
            <a:br/>
            <a:r>
              <a:t>Usa: python -m coverage report --show-missing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00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0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Resumen Semana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2000" b="1" i="0">
                <a:solidFill>
                  <a:srgbClr val="ECE4F9"/>
                </a:solidFill>
                <a:latin typeface="Calibri"/>
              </a:defRPr>
            </a:pPr>
            <a:r>
              <a:t>Lo que aprendimos hoy: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Cobertura de codigo = que porcentaje de tu codigo ejecutan tus tests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coverage.py = herramienta para medir y visualizar cobertura en Python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Refactoring = mejorar estructura sin cambiar comportamiento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Tecnicas clave: Rename, Extract Method, Extract Constant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NUNCA refactorizar sin tests que pasen antes y despues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Integrar coverage en CI/CD para mantener la calidad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0" i="1">
                <a:solidFill>
                  <a:srgbClr val="ECE4F9"/>
                </a:solidFill>
                <a:latin typeface="Calibri"/>
              </a:defRPr>
            </a:pPr>
            <a:r>
              <a:t>Para la proxima sesion: aplicar coverage y refactoring en su proyecto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0" i="0">
                <a:solidFill>
                  <a:srgbClr val="B09AD0"/>
                </a:solidFill>
                <a:latin typeface="Calibri"/>
              </a:defRPr>
            </a:pPr>
            <a:r>
              <a:t>Construccion de Software  |  Universidad Continental  |  Ing. Henderson Gibaja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1782</Words>
  <Application>Microsoft Office PowerPoint</Application>
  <PresentationFormat>Panorámica</PresentationFormat>
  <Paragraphs>291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Usuario de Windows</cp:lastModifiedBy>
  <cp:revision>2</cp:revision>
  <dcterms:created xsi:type="dcterms:W3CDTF">2013-01-27T09:14:16Z</dcterms:created>
  <dcterms:modified xsi:type="dcterms:W3CDTF">2026-10-29T19:34:14Z</dcterms:modified>
  <cp:category/>
</cp:coreProperties>
</file>